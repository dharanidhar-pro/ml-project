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2.png"/><Relationship Id="rId6" Type="http://schemas.openxmlformats.org/officeDocument/2006/relationships/image" Target="../media/image-8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-2331720"/>
            <a:ext cx="5029200" cy="5029200"/>
          </a:xfrm>
          <a:prstGeom prst="ellipse">
            <a:avLst/>
          </a:prstGeom>
          <a:ln w="1905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645920"/>
            <a:ext cx="3657600" cy="3657600"/>
          </a:xfrm>
          <a:prstGeom prst="ellipse">
            <a:avLst/>
          </a:prstGeom>
          <a:ln w="1905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-1005840"/>
            <a:ext cx="2377440" cy="2377440"/>
          </a:xfrm>
          <a:prstGeom prst="ellipse">
            <a:avLst/>
          </a:prstGeom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5486400"/>
            <a:ext cx="2926080" cy="2926080"/>
          </a:xfrm>
          <a:prstGeom prst="ellipse">
            <a:avLst/>
          </a:prstGeom>
          <a:ln w="19050">
            <a:solidFill>
              <a:srgbClr val="E8A33D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594360" y="5989320"/>
            <a:ext cx="1920240" cy="1920240"/>
          </a:xfrm>
          <a:prstGeom prst="ellipse">
            <a:avLst/>
          </a:prstGeom>
          <a:ln w="19050">
            <a:solidFill>
              <a:srgbClr val="E8A33D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77724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icons/LuDro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922081"/>
            <a:ext cx="368686" cy="368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· DEPARTMENT OF CSE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9659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Quality Classification Using Logistic Regression and Decision Trees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two interpretable machine-learning models for predicting water potability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4818888"/>
            <a:ext cx="10515600" cy="0"/>
          </a:xfrm>
          <a:prstGeom prst="line">
            <a:avLst/>
          </a:prstGeom>
          <a:noFill/>
          <a:ln w="12700">
            <a:solidFill>
              <a:srgbClr val="0F5C77">
                <a:alpha val="6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icons/Lu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517550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50932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417320" y="533095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Charan Sai  —  2520030173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Dharani Dhar  —  2520030163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0" y="5074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icons/LuAw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517550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95160" y="50932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995160" y="53309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Shaik Asif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CSE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 from problem context to experimental results — each section builds toward a complete, reproducible classification study.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icons/LuFlaskCon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39664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63824" y="22219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77240" y="289864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355848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context, motivation, and scope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52544" y="20574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81144" y="2286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icons/LuBook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786" y="239664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67728" y="22219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581144" y="289864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581144" y="3355848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representative prior studies and their limitations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56448" y="205740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85048" y="2286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/home/claude/icons/Lu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690" y="239664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771632" y="22219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385048" y="289864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&amp; Problem Statement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385048" y="3429000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studies have done and what this project addresses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48640" y="429768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7240" y="4526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3" descr="/home/claude/icons/Lu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4636922"/>
            <a:ext cx="281635" cy="28163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163824" y="44622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777240" y="513892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&amp; Dataset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777240" y="5596128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and WDBC dataset overview with EDA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352544" y="429768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81144" y="4526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4" descr="/home/claude/icons/LuGitBran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786" y="4636922"/>
            <a:ext cx="281635" cy="28163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967728" y="44622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Text 26"/>
          <p:cNvSpPr/>
          <p:nvPr/>
        </p:nvSpPr>
        <p:spPr>
          <a:xfrm>
            <a:off x="4581144" y="513892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4581144" y="5596128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 and project workflow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8156448" y="4297680"/>
            <a:ext cx="3483864" cy="1965960"/>
          </a:xfrm>
          <a:prstGeom prst="roundRect">
            <a:avLst>
              <a:gd name="adj" fmla="val 3721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385048" y="4526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7" name="Image 5" descr="/home/claude/icons/LuChartB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5690" y="4636922"/>
            <a:ext cx="281635" cy="28163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771632" y="446227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9" name="Text 31"/>
          <p:cNvSpPr/>
          <p:nvPr/>
        </p:nvSpPr>
        <p:spPr>
          <a:xfrm>
            <a:off x="8385048" y="513892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&amp; Results</a:t>
            </a:r>
            <a:endParaRPr lang="en-US" sz="1450" dirty="0"/>
          </a:p>
        </p:txBody>
      </p:sp>
      <p:sp>
        <p:nvSpPr>
          <p:cNvPr id="40" name="Text 32"/>
          <p:cNvSpPr/>
          <p:nvPr/>
        </p:nvSpPr>
        <p:spPr>
          <a:xfrm>
            <a:off x="8385048" y="5596128"/>
            <a:ext cx="30266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and conclusion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· Logistic Regression &amp; Decision Tree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183112" y="654710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07008" y="694944"/>
            <a:ext cx="1042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is critical for determining whether water is safe for drinking and other uses. Traditional assessment relies on measuring several physical and chemical parameters — Machine Learning offers a data-driven way to analyze these parameters and automatically classify water quality.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4414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icons/LuFlaskCon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532" y="2566172"/>
            <a:ext cx="317480" cy="317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31343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463040" y="2532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water-quality parameters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" y="2990088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Solids, Hardness, and 6 others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43400" y="214884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44568" y="24414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/home/claude/icons/Lu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292" y="2566172"/>
            <a:ext cx="317480" cy="317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231343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257800" y="2532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Potability class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44568" y="2990088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non-potable   ·   1 = potable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38160" y="214884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39328" y="24414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/home/claude/icons/Lu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052" y="2566172"/>
            <a:ext cx="317480" cy="317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52560" y="231343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9052560" y="2532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Potability Dataset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339328" y="2990088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3,276 labeled water samples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" y="3657600"/>
            <a:ext cx="5349240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2296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USED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22960" y="4224528"/>
            <a:ext cx="457200" cy="457200"/>
          </a:xfrm>
          <a:prstGeom prst="ellipse">
            <a:avLst/>
          </a:prstGeom>
          <a:solidFill>
            <a:srgbClr val="0A2E44"/>
          </a:solidFill>
          <a:ln/>
        </p:spPr>
      </p:sp>
      <p:pic>
        <p:nvPicPr>
          <p:cNvPr id="28" name="Image 3" descr="/home/claude/icons/LuGit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325112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42245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417320" y="45171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tree-based classifier that makes decisions through a series of conditions.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0A2E44"/>
          </a:solidFill>
          <a:ln/>
        </p:spPr>
      </p:sp>
      <p:pic>
        <p:nvPicPr>
          <p:cNvPr id="32" name="Image 4" descr="/home/claude/icons/LuTrending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266944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417320" y="51663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1417320" y="54589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 that estimates the probability that a sample belongs to a class.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080760" y="3657600"/>
            <a:ext cx="5559552" cy="2606040"/>
          </a:xfrm>
          <a:prstGeom prst="roundRect">
            <a:avLst>
              <a:gd name="adj" fmla="val 2456"/>
            </a:avLst>
          </a:prstGeom>
          <a:solidFill>
            <a:srgbClr val="0A2E44"/>
          </a:solidFill>
          <a:ln/>
        </p:spPr>
      </p:sp>
      <p:sp>
        <p:nvSpPr>
          <p:cNvPr id="36" name="Text 29"/>
          <p:cNvSpPr/>
          <p:nvPr/>
        </p:nvSpPr>
        <p:spPr>
          <a:xfrm>
            <a:off x="635508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355080" y="430682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8" name="Text 31"/>
          <p:cNvSpPr/>
          <p:nvPr/>
        </p:nvSpPr>
        <p:spPr>
          <a:xfrm>
            <a:off x="6583680" y="419709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39" name="Shape 32"/>
          <p:cNvSpPr/>
          <p:nvPr/>
        </p:nvSpPr>
        <p:spPr>
          <a:xfrm>
            <a:off x="6355080" y="469087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0" name="Text 33"/>
          <p:cNvSpPr/>
          <p:nvPr/>
        </p:nvSpPr>
        <p:spPr>
          <a:xfrm>
            <a:off x="6583680" y="458114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6355080" y="507492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2" name="Text 35"/>
          <p:cNvSpPr/>
          <p:nvPr/>
        </p:nvSpPr>
        <p:spPr>
          <a:xfrm>
            <a:off x="6583680" y="49651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43" name="Shape 36"/>
          <p:cNvSpPr/>
          <p:nvPr/>
        </p:nvSpPr>
        <p:spPr>
          <a:xfrm>
            <a:off x="6355080" y="545896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4" name="Text 37"/>
          <p:cNvSpPr/>
          <p:nvPr/>
        </p:nvSpPr>
        <p:spPr>
          <a:xfrm>
            <a:off x="6583680" y="53492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50" dirty="0"/>
          </a:p>
        </p:txBody>
      </p:sp>
      <p:sp>
        <p:nvSpPr>
          <p:cNvPr id="45" name="Shape 38"/>
          <p:cNvSpPr/>
          <p:nvPr/>
        </p:nvSpPr>
        <p:spPr>
          <a:xfrm>
            <a:off x="6355080" y="584301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6" name="Text 39"/>
          <p:cNvSpPr/>
          <p:nvPr/>
        </p:nvSpPr>
        <p:spPr>
          <a:xfrm>
            <a:off x="6583680" y="57332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50" dirty="0"/>
          </a:p>
        </p:txBody>
      </p:sp>
      <p:sp>
        <p:nvSpPr>
          <p:cNvPr id="47" name="Text 40"/>
          <p:cNvSpPr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· Logistic Regression &amp; Decision Tree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11183112" y="654710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07008" y="694944"/>
            <a:ext cx="1042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studies from 2019–2023 were reviewed. A common limitation across prior work is the over-reliance on accuracy alone and the absence of focused tree-based model analysis.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5120640"/>
                <a:gridCol w="34107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Prasad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SVM, Logistic Regression, Naive Bayes, Random 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one lake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Nasir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Bayes, Random Forest, ANN, KNN, SVM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algorithms compared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Boonlha &amp; Mahapho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Regression, Decision Tree, 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Thailand-specific 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Hasan &amp; Alhammadi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Forest, AdaBoost, Logistic Regression, Decision Tree, Naive Bayes, CNN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Abu Dhabi–specific 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Kaddoura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KNN, SVM, Logistic Regression, Gaussian Naive Bayes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algorithms compared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Bhalerao &amp; Mohan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XGBoost, AdaBoost, Gradient Boosting with hyperparameter tuning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 synthetic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Singh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SVM, Logistic Regression, RF, XGBoost, AdaBoost, KNN, Naive Bayes, ensemble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classifications compared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Ramya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Regression, SVM, Random Forest, Neural Networks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importance and PR-AUC not detailed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· Logistic Regression &amp; Decision Tree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54710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07008" y="694944"/>
            <a:ext cx="1042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&amp; Problem Statement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3246120"/>
          </a:xfrm>
          <a:prstGeom prst="roundRect">
            <a:avLst>
              <a:gd name="adj" fmla="val 1972"/>
            </a:avLst>
          </a:prstGeom>
          <a:solidFill>
            <a:srgbClr val="F8E9E4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755648"/>
            <a:ext cx="502920" cy="502920"/>
          </a:xfrm>
          <a:prstGeom prst="ellipse">
            <a:avLst/>
          </a:prstGeom>
          <a:solidFill>
            <a:srgbClr val="C1602E"/>
          </a:solidFill>
          <a:ln/>
        </p:spPr>
      </p:sp>
      <p:pic>
        <p:nvPicPr>
          <p:cNvPr id="8" name="Image 0" descr="/home/claude/icons/LuTriangle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866290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92224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Prior Studies Missed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41248" y="2569464"/>
            <a:ext cx="82296" cy="82296"/>
          </a:xfrm>
          <a:prstGeom prst="ellipse">
            <a:avLst/>
          </a:prstGeom>
          <a:solidFill>
            <a:srgbClr val="C1602E"/>
          </a:solidFill>
          <a:ln/>
        </p:spPr>
      </p:sp>
      <p:sp>
        <p:nvSpPr>
          <p:cNvPr id="11" name="Text 8"/>
          <p:cNvSpPr/>
          <p:nvPr/>
        </p:nvSpPr>
        <p:spPr>
          <a:xfrm>
            <a:off x="1078992" y="2441448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compare several ML algorithms without focusing deeply on simple classification models.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1248" y="3282696"/>
            <a:ext cx="82296" cy="82296"/>
          </a:xfrm>
          <a:prstGeom prst="ellipse">
            <a:avLst/>
          </a:prstGeom>
          <a:solidFill>
            <a:srgbClr val="C1602E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3154680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models make it difficult to understand how water-quality predictions are made.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41248" y="3995928"/>
            <a:ext cx="82296" cy="82296"/>
          </a:xfrm>
          <a:prstGeom prst="ellipse">
            <a:avLst/>
          </a:prstGeom>
          <a:solidFill>
            <a:srgbClr val="C1602E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3867912"/>
            <a:ext cx="4617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methods and neural networks overshadow simpler, more interpretable tree-based models.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80760" y="1463040"/>
            <a:ext cx="5559552" cy="3246120"/>
          </a:xfrm>
          <a:prstGeom prst="roundRect">
            <a:avLst>
              <a:gd name="adj" fmla="val 1972"/>
            </a:avLst>
          </a:prstGeom>
          <a:solidFill>
            <a:srgbClr val="E6EFF2"/>
          </a:solidFill>
          <a:ln/>
        </p:spPr>
      </p:sp>
      <p:sp>
        <p:nvSpPr>
          <p:cNvPr id="17" name="Shape 14"/>
          <p:cNvSpPr/>
          <p:nvPr/>
        </p:nvSpPr>
        <p:spPr>
          <a:xfrm>
            <a:off x="6355080" y="17556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1" descr="/home/claude/icons/Lu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722" y="1866290"/>
            <a:ext cx="281635" cy="28163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179222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Research Gap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373368" y="256946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6611112" y="244144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to study simple and interpretable models — such as Logistic Regression and Decision Tree — for water-potability classification.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373368" y="352958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6611112" y="340156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comparison of Logistic Regression and Decision Tree for predicting water potability using the Water Potability dataset.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0A2E44"/>
          </a:solidFill>
          <a:ln/>
        </p:spPr>
      </p:sp>
      <p:sp>
        <p:nvSpPr>
          <p:cNvPr id="25" name="Shape 21"/>
          <p:cNvSpPr/>
          <p:nvPr/>
        </p:nvSpPr>
        <p:spPr>
          <a:xfrm>
            <a:off x="822960" y="5266944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6" name="Image 2" descr="/home/claude/icons/Lu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637" y="5383621"/>
            <a:ext cx="296997" cy="29699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54480" y="51846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1554480" y="544068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and compare Logistic Regression and Decision Tree models for accurate, interpretable water-potability classification.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· Logistic Regression &amp; Decision Tree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183112" y="654710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07008" y="694944"/>
            <a:ext cx="1042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summary of the project scope, approach, and evaluation strategy.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icons/Lu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31526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49240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463040" y="225856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77240" y="283464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 Potability Dataset contains 3,276 water samples with 9 water-quality parameters, used to classify water as potable or non-potable.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99632" y="196596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28232" y="2194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/home/claude/icons/Lu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3" y="231526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000232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114032" y="225856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428232" y="283464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analyzed for missing values, data distribution, outliers, and relationships between parameters before training.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16052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/home/claude/icons/Lu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50982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49240" y="42702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1463040" y="445312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777240" y="502920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and Decision Tree are trained to classify water samples as potable or non-potable.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199632" y="416052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428232" y="4389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/home/claude/icons/Lu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933" y="4509821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000232" y="42702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7114032" y="4453128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6428232" y="502920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evaluated using Accuracy, Precision, Recall, F1-Score, and Confusion Matrix to compare performance.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· Logistic Regression &amp; Decision Tree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183112" y="654710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07008" y="694944"/>
            <a:ext cx="1042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Exploratory Data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349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80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Potability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Samples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Columns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Potability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BF0DD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507492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0" descr="/home/claude/icons/LuChart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5165446"/>
            <a:ext cx="230429" cy="2304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50292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after training: missing-value heatmap, histograms, box plots, class-distribution plot, and correlation heatmap.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080760" y="1417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STEPS — PERFORMED IN ORDER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80760" y="1828800"/>
            <a:ext cx="457200" cy="457200"/>
          </a:xfrm>
          <a:prstGeom prst="ellipse">
            <a:avLst/>
          </a:prstGeom>
          <a:solidFill>
            <a:srgbClr val="0A2E44"/>
          </a:solidFill>
          <a:ln/>
        </p:spPr>
      </p:sp>
      <p:sp>
        <p:nvSpPr>
          <p:cNvPr id="14" name="Text 10"/>
          <p:cNvSpPr/>
          <p:nvPr/>
        </p:nvSpPr>
        <p:spPr>
          <a:xfrm>
            <a:off x="60807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2286000"/>
            <a:ext cx="0" cy="676656"/>
          </a:xfrm>
          <a:prstGeom prst="line">
            <a:avLst/>
          </a:prstGeom>
          <a:noFill/>
          <a:ln w="19050">
            <a:solidFill>
              <a:srgbClr val="DCE7E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20840" y="18013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Inspect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720840" y="207568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dataset and check the number of samples, columns, data types, and basic structure.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80760" y="2962656"/>
            <a:ext cx="457200" cy="457200"/>
          </a:xfrm>
          <a:prstGeom prst="ellipse">
            <a:avLst/>
          </a:prstGeom>
          <a:solidFill>
            <a:srgbClr val="0A2E44"/>
          </a:solidFill>
          <a:ln/>
        </p:spPr>
      </p:sp>
      <p:sp>
        <p:nvSpPr>
          <p:cNvPr id="19" name="Text 15"/>
          <p:cNvSpPr/>
          <p:nvPr/>
        </p:nvSpPr>
        <p:spPr>
          <a:xfrm>
            <a:off x="6080760" y="2962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309360" y="3419856"/>
            <a:ext cx="0" cy="676656"/>
          </a:xfrm>
          <a:prstGeom prst="line">
            <a:avLst/>
          </a:prstGeom>
          <a:noFill/>
          <a:ln w="19050">
            <a:solidFill>
              <a:srgbClr val="DCE7E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20840" y="29352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Check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720840" y="320954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missing values, duplicate records, and inconsistent data.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080760" y="4096512"/>
            <a:ext cx="457200" cy="457200"/>
          </a:xfrm>
          <a:prstGeom prst="ellipse">
            <a:avLst/>
          </a:prstGeom>
          <a:solidFill>
            <a:srgbClr val="0A2E44"/>
          </a:solidFill>
          <a:ln/>
        </p:spPr>
      </p:sp>
      <p:sp>
        <p:nvSpPr>
          <p:cNvPr id="24" name="Text 20"/>
          <p:cNvSpPr/>
          <p:nvPr/>
        </p:nvSpPr>
        <p:spPr>
          <a:xfrm>
            <a:off x="608076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309360" y="4553712"/>
            <a:ext cx="0" cy="676656"/>
          </a:xfrm>
          <a:prstGeom prst="line">
            <a:avLst/>
          </a:prstGeom>
          <a:noFill/>
          <a:ln w="19050">
            <a:solidFill>
              <a:srgbClr val="DCE7E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20840" y="4069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Summary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720840" y="43434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mean, median, minimum, maximum, and standard deviation of the numerical features.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080760" y="5230368"/>
            <a:ext cx="457200" cy="457200"/>
          </a:xfrm>
          <a:prstGeom prst="ellipse">
            <a:avLst/>
          </a:prstGeom>
          <a:solidFill>
            <a:srgbClr val="0A2E44"/>
          </a:solidFill>
          <a:ln/>
        </p:spPr>
      </p:sp>
      <p:sp>
        <p:nvSpPr>
          <p:cNvPr id="29" name="Text 25"/>
          <p:cNvSpPr/>
          <p:nvPr/>
        </p:nvSpPr>
        <p:spPr>
          <a:xfrm>
            <a:off x="6080760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720840" y="520293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Analysis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720840" y="547725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histograms, box plots, correlation heatmap, and target-class distribution to understand the data.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· Logistic Regression &amp; Decision Tree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183112" y="654710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07008" y="694944"/>
            <a:ext cx="1042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91640"/>
            <a:ext cx="621792" cy="621792"/>
          </a:xfrm>
          <a:prstGeom prst="ellipse">
            <a:avLst/>
          </a:prstGeom>
          <a:solidFill>
            <a:srgbClr val="0A2E44"/>
          </a:solidFill>
          <a:ln/>
        </p:spPr>
      </p:sp>
      <p:pic>
        <p:nvPicPr>
          <p:cNvPr id="8" name="Image 0" descr="/home/claude/icons/LuTrending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754" y="1828434"/>
            <a:ext cx="348204" cy="3482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69164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00200" y="19202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256032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classification model that predicts the probability of water being potable or non-potable using the input water-quality parameters.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74904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E6EFF2"/>
          </a:solidFill>
          <a:ln/>
        </p:spPr>
      </p:sp>
      <p:sp>
        <p:nvSpPr>
          <p:cNvPr id="13" name="Shape 10"/>
          <p:cNvSpPr/>
          <p:nvPr/>
        </p:nvSpPr>
        <p:spPr>
          <a:xfrm>
            <a:off x="987552" y="395020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icons/LuCircleCheck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402336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3877056"/>
            <a:ext cx="4251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463040" y="41148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and easy to interpret.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2960" y="484632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FBF0DD"/>
          </a:solidFill>
          <a:ln/>
        </p:spPr>
      </p:sp>
      <p:sp>
        <p:nvSpPr>
          <p:cNvPr id="18" name="Shape 14"/>
          <p:cNvSpPr/>
          <p:nvPr/>
        </p:nvSpPr>
        <p:spPr>
          <a:xfrm>
            <a:off x="987552" y="504748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2" descr="/home/claude/icons/LuTriangle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512064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4974336"/>
            <a:ext cx="4251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16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463040" y="52120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when the relationship between features and the target is approximately linear.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99632" y="141732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73952" y="1691640"/>
            <a:ext cx="621792" cy="621792"/>
          </a:xfrm>
          <a:prstGeom prst="ellipse">
            <a:avLst/>
          </a:prstGeom>
          <a:solidFill>
            <a:srgbClr val="0A2E44"/>
          </a:solidFill>
          <a:ln/>
        </p:spPr>
      </p:sp>
      <p:pic>
        <p:nvPicPr>
          <p:cNvPr id="24" name="Image 3" descr="/home/claude/icons/LuGit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746" y="1828434"/>
            <a:ext cx="348204" cy="3482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51192" y="169164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251192" y="192024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6473952" y="256032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tree-based model that makes decisions by applying conditions on water-quality parameters, splitting the data until a potability class is predicted.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73952" y="374904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E6EFF2"/>
          </a:solidFill>
          <a:ln/>
        </p:spPr>
      </p:sp>
      <p:sp>
        <p:nvSpPr>
          <p:cNvPr id="29" name="Shape 23"/>
          <p:cNvSpPr/>
          <p:nvPr/>
        </p:nvSpPr>
        <p:spPr>
          <a:xfrm>
            <a:off x="6638544" y="395020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/home/claude/icons/LuCircleCheckBi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4023360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14032" y="3877056"/>
            <a:ext cx="4251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7114032" y="41148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understand, visualize, and interpret.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473952" y="484632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FBF0DD"/>
          </a:solidFill>
          <a:ln/>
        </p:spPr>
      </p:sp>
      <p:sp>
        <p:nvSpPr>
          <p:cNvPr id="34" name="Shape 27"/>
          <p:cNvSpPr/>
          <p:nvPr/>
        </p:nvSpPr>
        <p:spPr>
          <a:xfrm>
            <a:off x="6638544" y="504748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5" name="Image 5" descr="/home/claude/icons/LuTriangleAle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696" y="5120640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114032" y="4974336"/>
            <a:ext cx="4251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16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7114032" y="52120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overfit if the tree becomes too deep.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· Logistic Regression &amp; Decision Tree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183112" y="654710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07008" y="694944"/>
            <a:ext cx="1042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Metrics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91672" cy="877824"/>
          </a:xfrm>
          <a:prstGeom prst="rect">
            <a:avLst/>
          </a:prstGeom>
          <a:solidFill>
            <a:srgbClr val="F6FAFC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icons/Lu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48333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536192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69080" y="1536192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overall percentage of water samples correctly classified as potable or non-potable.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395728"/>
            <a:ext cx="11091672" cy="8778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2560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icons/LuCircleCheck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6810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46888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069080" y="246888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many of the samples predicted as potable are actually potable.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328416"/>
            <a:ext cx="11091672" cy="877824"/>
          </a:xfrm>
          <a:prstGeom prst="rect">
            <a:avLst/>
          </a:prstGeom>
          <a:solidFill>
            <a:srgbClr val="F6FAFC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34930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icons/Lu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613709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40156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069080" y="3401568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many of the actual potable samples are correctly identified.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261104"/>
            <a:ext cx="11091672" cy="8778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442569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/home/claude/icons/Lu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546397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54480" y="433425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069080" y="4334256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balance between Precision and Recall in a single measure.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5193792"/>
            <a:ext cx="11091672" cy="877824"/>
          </a:xfrm>
          <a:prstGeom prst="rect">
            <a:avLst/>
          </a:prstGeom>
          <a:solidFill>
            <a:srgbClr val="F6FAFC"/>
          </a:solidFill>
          <a:ln/>
        </p:spPr>
      </p:sp>
      <p:sp>
        <p:nvSpPr>
          <p:cNvPr id="27" name="Shape 21"/>
          <p:cNvSpPr/>
          <p:nvPr/>
        </p:nvSpPr>
        <p:spPr>
          <a:xfrm>
            <a:off x="777240" y="535838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4" descr="/home/claude/icons/LuChartP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5479085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54480" y="526694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069080" y="5266944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correct and incorrect predictions: True Positive, True Negative, False Positive, and False Negative.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· Logistic Regression &amp; Decision Tree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183112" y="654710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07008" y="694944"/>
            <a:ext cx="1042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Comparisons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is compared across five evaluation metrics after training and testing on the Water Potability dataset.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BF0DD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911096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0" descr="/home/claude/icons/LuTriangle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7" y="1976933"/>
            <a:ext cx="197510" cy="1975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8288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16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pending — to be completed after model training and testing.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91672" cy="914400"/>
        </p:xfrm>
        <a:graphic>
          <a:graphicData uri="http://schemas.openxmlformats.org/drawingml/2006/table">
            <a:tbl>
              <a:tblPr/>
              <a:tblGrid>
                <a:gridCol w="3410712"/>
                <a:gridCol w="3840480"/>
                <a:gridCol w="3840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7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Add Result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7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Add Result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7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Add Result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7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Add Result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7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Add Result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7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Add Result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7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Add Result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7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Add Result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Confusion Matrix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7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Add Result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5B7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Add Result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· Logistic Regression &amp; Decision Tree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83112" y="654710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CONTINUED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07008" y="694944"/>
            <a:ext cx="1042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Visualizations to Be Added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charts to support the results above, generated once both models have been trained and evaluated.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57860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icons/LuChar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443" y="2711379"/>
            <a:ext cx="337962" cy="3379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3500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Comparison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00200" y="2770632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vs. Decision Tree, side by side.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37760" y="209397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BF0DD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209397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C16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99632" y="1965960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55664" y="257860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icons/Lu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435" y="2711379"/>
            <a:ext cx="337962" cy="33796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51192" y="23500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Precision, Recall &amp; F1-Score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7251192" y="2770632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across both models on all three metrics.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0588752" y="209397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BF0DD"/>
          </a:solidFill>
          <a:ln/>
        </p:spPr>
      </p:sp>
      <p:sp>
        <p:nvSpPr>
          <p:cNvPr id="20" name="Text 16"/>
          <p:cNvSpPr/>
          <p:nvPr/>
        </p:nvSpPr>
        <p:spPr>
          <a:xfrm>
            <a:off x="10588752" y="209397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C16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48640" y="4023360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04672" y="463600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2" descr="/home/claude/icons/LuChart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443" y="4768779"/>
            <a:ext cx="337962" cy="33796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00200" y="44074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1600200" y="4828032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breakdown of predictions for both models.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937760" y="415137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BF0DD"/>
          </a:solidFill>
          <a:ln/>
        </p:spPr>
      </p:sp>
      <p:sp>
        <p:nvSpPr>
          <p:cNvPr id="27" name="Text 22"/>
          <p:cNvSpPr/>
          <p:nvPr/>
        </p:nvSpPr>
        <p:spPr>
          <a:xfrm>
            <a:off x="4937760" y="415137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C16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6199632" y="4023360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6FAFC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455664" y="463600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3" descr="/home/claude/icons/LuTrending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435" y="4768779"/>
            <a:ext cx="337962" cy="33796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51192" y="44074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Chart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7251192" y="4828032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comparison chart summarizing all metrics.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10588752" y="415137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BF0DD"/>
          </a:solidFill>
          <a:ln/>
        </p:spPr>
      </p:sp>
      <p:sp>
        <p:nvSpPr>
          <p:cNvPr id="34" name="Text 28"/>
          <p:cNvSpPr/>
          <p:nvPr/>
        </p:nvSpPr>
        <p:spPr>
          <a:xfrm>
            <a:off x="10588752" y="415137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C16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· Logistic Regression &amp; Decision Tree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183112" y="654710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4617720"/>
            <a:ext cx="4114800" cy="4114800"/>
          </a:xfrm>
          <a:prstGeom prst="ellipse">
            <a:avLst/>
          </a:prstGeom>
          <a:ln w="1905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5212080"/>
            <a:ext cx="2926080" cy="2926080"/>
          </a:xfrm>
          <a:prstGeom prst="ellipse">
            <a:avLst/>
          </a:prstGeom>
          <a:ln w="1905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5760720"/>
            <a:ext cx="1828800" cy="1828800"/>
          </a:xfrm>
          <a:prstGeom prst="ellipse">
            <a:avLst/>
          </a:prstGeom>
          <a:ln w="1905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07008" y="4572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694944"/>
            <a:ext cx="10424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F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effectively classify water as potable or non-potable using water-quality parameters. Logistic Regression and Decision Tree provide a simple and interpretable approach for water-potability prediction.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3547872" cy="1874520"/>
          </a:xfrm>
          <a:prstGeom prst="roundRect">
            <a:avLst>
              <a:gd name="adj" fmla="val 3415"/>
            </a:avLst>
          </a:prstGeom>
          <a:solidFill>
            <a:srgbClr val="12425F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245059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0" descr="/home/claude/icons/Lu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571293"/>
            <a:ext cx="307238" cy="30723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4672" y="3154680"/>
            <a:ext cx="3035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Analyzed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" y="347472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Water-quality parameters, missing values, outliers, and correlations.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15968" y="2194560"/>
            <a:ext cx="3547872" cy="1874520"/>
          </a:xfrm>
          <a:prstGeom prst="roundRect">
            <a:avLst>
              <a:gd name="adj" fmla="val 3415"/>
            </a:avLst>
          </a:prstGeom>
          <a:solidFill>
            <a:srgbClr val="12425F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0" y="245059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1" descr="/home/claude/icons/LuGit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2571293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0" y="3154680"/>
            <a:ext cx="3035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72000" y="347472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 system to predict water potability using Logistic Regression and Decision Tree.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083296" y="2194560"/>
            <a:ext cx="3547872" cy="1874520"/>
          </a:xfrm>
          <a:prstGeom prst="roundRect">
            <a:avLst>
              <a:gd name="adj" fmla="val 3415"/>
            </a:avLst>
          </a:prstGeom>
          <a:solidFill>
            <a:srgbClr val="12425F"/>
          </a:solidFill>
          <a:ln/>
        </p:spPr>
      </p:sp>
      <p:sp>
        <p:nvSpPr>
          <p:cNvPr id="21" name="Shape 17"/>
          <p:cNvSpPr/>
          <p:nvPr/>
        </p:nvSpPr>
        <p:spPr>
          <a:xfrm>
            <a:off x="8339328" y="245059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2" descr="/home/claude/icons/LuChart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029" y="2571293"/>
            <a:ext cx="307238" cy="30723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39328" y="3154680"/>
            <a:ext cx="3035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Measured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339328" y="347472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F1-Score, and Confusion Matrix to evaluate performance.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48640" y="43891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66928" y="481888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2"/>
          <p:cNvSpPr/>
          <p:nvPr/>
        </p:nvSpPr>
        <p:spPr>
          <a:xfrm>
            <a:off x="804672" y="4681728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potability can be predicted using Machine Learning.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66928" y="538581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4"/>
          <p:cNvSpPr/>
          <p:nvPr/>
        </p:nvSpPr>
        <p:spPr>
          <a:xfrm>
            <a:off x="804672" y="5248656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and Decision Tree can classify water as potable or non-potable.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566928" y="595274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6"/>
          <p:cNvSpPr/>
          <p:nvPr/>
        </p:nvSpPr>
        <p:spPr>
          <a:xfrm>
            <a:off x="804672" y="5815584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and preprocessing help prepare water-quality data for modelling.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172200" y="481888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28"/>
          <p:cNvSpPr/>
          <p:nvPr/>
        </p:nvSpPr>
        <p:spPr>
          <a:xfrm>
            <a:off x="6400800" y="4681728"/>
            <a:ext cx="5212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F1-Score, and Confusion Matrix evaluate the models.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172200" y="538581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0"/>
          <p:cNvSpPr/>
          <p:nvPr/>
        </p:nvSpPr>
        <p:spPr>
          <a:xfrm>
            <a:off x="6400800" y="5248656"/>
            <a:ext cx="5212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multiple metrics helps identify the more suitable model.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48640" y="6547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Classification · Logistic Regression &amp; Decision Tree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11183112" y="654710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2026-08-28T06:57:41Z</dcterms:created>
  <dcterms:modified xsi:type="dcterms:W3CDTF">2026-08-28T06:57:41Z</dcterms:modified>
</cp:coreProperties>
</file>